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5" r:id="rId18"/>
    <p:sldId id="276" r:id="rId19"/>
    <p:sldId id="273" r:id="rId20"/>
    <p:sldId id="277" r:id="rId21"/>
    <p:sldId id="274" r:id="rId22"/>
    <p:sldId id="278" r:id="rId23"/>
    <p:sldId id="279" r:id="rId24"/>
    <p:sldId id="26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13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519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3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77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2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35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3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8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4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60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23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94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01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957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850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46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31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7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Media &amp; Interactivity in Web Design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DD74A95-55CF-535B-B43D-E04D94859E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and Interactivity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Definition of multimedia: images, video, audio, graphics, animations</a:t>
            </a:r>
          </a:p>
          <a:p>
            <a:r>
              <a:t>Role in enhancing user engagement and information delivery</a:t>
            </a:r>
          </a:p>
          <a:p>
            <a:r>
              <a:t>Usability vs aesthetics: maintaining balance in design</a:t>
            </a:r>
          </a:p>
          <a:p>
            <a:r>
              <a:t>Impact on UX: cognitive load, emotional engagement, and navigation flow</a:t>
            </a:r>
          </a:p>
          <a:p>
            <a:r>
              <a:t>Interactivity as a key component in modern web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Types of Media Used in Web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Raster Images (JPEG, </a:t>
            </a:r>
            <a:r>
              <a:rPr dirty="0" err="1"/>
              <a:t>WebP</a:t>
            </a:r>
            <a:r>
              <a:rPr dirty="0"/>
              <a:t>, PNG): best for photographs</a:t>
            </a:r>
          </a:p>
          <a:p>
            <a:r>
              <a:rPr dirty="0"/>
              <a:t>Vector Images (SVG): best for icons and scalable graphics</a:t>
            </a:r>
          </a:p>
          <a:p>
            <a:r>
              <a:rPr dirty="0"/>
              <a:t>Audio (MP3, AAC, WAV): background audio, podcasts, narration</a:t>
            </a:r>
          </a:p>
          <a:p>
            <a:r>
              <a:rPr dirty="0"/>
              <a:t>Video (MP4, </a:t>
            </a:r>
            <a:r>
              <a:rPr dirty="0" err="1"/>
              <a:t>WebM</a:t>
            </a:r>
            <a:r>
              <a:rPr dirty="0"/>
              <a:t>): tutorials, demos, promotional visuals</a:t>
            </a:r>
          </a:p>
          <a:p>
            <a:r>
              <a:rPr dirty="0"/>
              <a:t>Interactive Media (Canvas, WebGL, animations)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Image Optimization Techniques –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page load speed and performance</a:t>
            </a:r>
          </a:p>
          <a:p>
            <a:r>
              <a:t>Reduces server bandwidth usage</a:t>
            </a:r>
          </a:p>
          <a:p>
            <a:r>
              <a:t>Direct impact on SEO and Core Web Vitals</a:t>
            </a:r>
          </a:p>
          <a:p>
            <a:r>
              <a:t>Enhances user satisfaction and reduces bounce rates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Image Optimization Techniques –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Choosing the right format: WebP &amp; AVIF for modern optimization</a:t>
            </a:r>
          </a:p>
          <a:p>
            <a:r>
              <a:t>Responsive images: using &lt;img srcset&gt; and &lt;picture&gt; for size variation</a:t>
            </a:r>
          </a:p>
          <a:p>
            <a:r>
              <a:t>Lossy vs lossless compression: selecting based on quality requirements</a:t>
            </a:r>
          </a:p>
          <a:p>
            <a:r>
              <a:t>Tools: TinyPNG, Squoosh, ImageMagick, Photoshop</a:t>
            </a:r>
          </a:p>
          <a:p>
            <a:r>
              <a:t>Lazy loading: using loading='lazy' attribute to defer off‑screen images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Video &amp; Audio Integration in Web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HTML5 &lt;video&gt; and &lt;audio&gt; elements and essential attributes</a:t>
            </a:r>
          </a:p>
          <a:p>
            <a:r>
              <a:t>Video codecs (H.264, VP9) and audio codecs (AAC, MP3)</a:t>
            </a:r>
          </a:p>
          <a:p>
            <a:r>
              <a:t>Accessibility features: captions, transcripts, audio descriptions</a:t>
            </a:r>
          </a:p>
          <a:p>
            <a:r>
              <a:t>Streaming solutions: HLS, DASH for adaptive streaming</a:t>
            </a:r>
          </a:p>
          <a:p>
            <a:r>
              <a:t>Embedding external platforms: YouTube, Vimeo, SoundCloud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for Video &amp; Audio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autoplay; provide user control</a:t>
            </a:r>
          </a:p>
          <a:p>
            <a:r>
              <a:t>Use optimized video sizes to prevent page lag</a:t>
            </a:r>
          </a:p>
          <a:p>
            <a:r>
              <a:t>Provide fallback formats for browser compatibility</a:t>
            </a:r>
          </a:p>
          <a:p>
            <a:r>
              <a:t>Use poster images for video placeholders</a:t>
            </a:r>
          </a:p>
          <a:p>
            <a:r>
              <a:t>Ensure keyboard accessibility for controls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SVG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 Vector Graphics: XML-based image format</a:t>
            </a:r>
          </a:p>
          <a:p>
            <a:r>
              <a:t>Advantages: resolution independence, small file size, editable</a:t>
            </a:r>
          </a:p>
          <a:p>
            <a:r>
              <a:t>Inline SVG for interactive elements vs external SVG files</a:t>
            </a:r>
          </a:p>
          <a:p>
            <a:r>
              <a:t>Styling SVG with CSS: fill, stroke, hover effects</a:t>
            </a:r>
          </a:p>
          <a:p>
            <a:r>
              <a:t>Animating SVG using SMIL, CSS, and JavaScript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SVG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Logos and icons for responsive design</a:t>
            </a:r>
          </a:p>
          <a:p>
            <a:r>
              <a:t>Infographics and data visualizations</a:t>
            </a:r>
          </a:p>
          <a:p>
            <a:r>
              <a:t>Custom illustrations and UI elements</a:t>
            </a:r>
          </a:p>
          <a:p>
            <a:r>
              <a:t>Interactive diagrams and animations</a:t>
            </a:r>
          </a:p>
          <a:p>
            <a:r>
              <a:t>Maps and scalable schemas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Interactivity with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transitions: smooth state changes (hover, focus)</a:t>
            </a:r>
          </a:p>
          <a:p>
            <a:r>
              <a:t>CSS animations: @keyframes for movement and effects</a:t>
            </a:r>
          </a:p>
          <a:p>
            <a:r>
              <a:t>Pseudo-classes and pseudo-elements for dynamic styling</a:t>
            </a:r>
          </a:p>
          <a:p>
            <a:r>
              <a:t>Hover menus, tooltips, highlight effects</a:t>
            </a:r>
          </a:p>
          <a:p>
            <a:r>
              <a:t>Limitations of CSS-only interactivity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Interactivity with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 manipulation and event handling (click, scroll, input)</a:t>
            </a:r>
          </a:p>
          <a:p>
            <a:r>
              <a:t>Creating dynamic content and animations</a:t>
            </a:r>
          </a:p>
          <a:p>
            <a:r>
              <a:t>Form validation and real-time feedback</a:t>
            </a:r>
          </a:p>
          <a:p>
            <a:r>
              <a:t>Working with APIs to add interactive data-driven features</a:t>
            </a:r>
          </a:p>
          <a:p>
            <a:r>
              <a:t>Progressive enhancement: making JS optional for basic functionality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Interactive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Dropdown menus and modal windows</a:t>
            </a:r>
          </a:p>
          <a:p>
            <a:r>
              <a:t>Image sliders and carousels</a:t>
            </a:r>
          </a:p>
          <a:p>
            <a:r>
              <a:t>Interactive charts and data visualizations</a:t>
            </a:r>
          </a:p>
          <a:p>
            <a:r>
              <a:t>Canvas-based drawings and games</a:t>
            </a:r>
          </a:p>
          <a:p>
            <a:r>
              <a:t>Scroll-triggered animations and parallax effects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Optimizing media assets for mobile devices</a:t>
            </a:r>
          </a:p>
          <a:p>
            <a:r>
              <a:t>Avoiding large script bundles and unused CSS</a:t>
            </a:r>
          </a:p>
          <a:p>
            <a:r>
              <a:t>Using CDNs for faster asset delivery</a:t>
            </a:r>
          </a:p>
          <a:p>
            <a:r>
              <a:t>Minimizing reflows and repaints</a:t>
            </a:r>
          </a:p>
          <a:p>
            <a:r>
              <a:t>Using browser dev tools to measure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Responsive Image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91B62F-B36E-2796-7474-571350895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886" y="1671658"/>
            <a:ext cx="8229600" cy="4026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895887-A33C-9B48-F2F8-71A15007B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752347"/>
            <a:ext cx="8164286" cy="10574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HTML5 Video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555352-DABE-367D-B35D-3F9BD27D0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5943" y="2489200"/>
            <a:ext cx="5747486" cy="40729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Inline SVG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1200">
                <a:latin typeface="Courier New"/>
              </a:defRPr>
            </a:pPr>
            <a:r>
              <a:rPr lang="en-MY" sz="28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MY" sz="2800" dirty="0" err="1">
                <a:latin typeface="Arial" panose="020B0604020202020204" pitchFamily="34" charset="0"/>
                <a:cs typeface="Arial" panose="020B0604020202020204" pitchFamily="34" charset="0"/>
              </a:rPr>
              <a:t>svg</a:t>
            </a:r>
            <a:r>
              <a:rPr lang="en-MY" sz="2800" dirty="0">
                <a:latin typeface="Arial" panose="020B0604020202020204" pitchFamily="34" charset="0"/>
                <a:cs typeface="Arial" panose="020B0604020202020204" pitchFamily="34" charset="0"/>
              </a:rPr>
              <a:t> width="120" height="120" </a:t>
            </a:r>
            <a:r>
              <a:rPr lang="en-MY" sz="2800" dirty="0" err="1">
                <a:latin typeface="Arial" panose="020B0604020202020204" pitchFamily="34" charset="0"/>
                <a:cs typeface="Arial" panose="020B0604020202020204" pitchFamily="34" charset="0"/>
              </a:rPr>
              <a:t>viewBox</a:t>
            </a:r>
            <a:r>
              <a:rPr lang="en-MY" sz="2800" dirty="0">
                <a:latin typeface="Arial" panose="020B0604020202020204" pitchFamily="34" charset="0"/>
                <a:cs typeface="Arial" panose="020B0604020202020204" pitchFamily="34" charset="0"/>
              </a:rPr>
              <a:t>="0 0 100 100"&gt;</a:t>
            </a:r>
          </a:p>
          <a:p>
            <a:pPr marL="0" indent="0">
              <a:buNone/>
              <a:defRPr sz="1200">
                <a:latin typeface="Courier New"/>
              </a:defRPr>
            </a:pPr>
            <a:r>
              <a:rPr lang="en-MY" sz="2800" dirty="0">
                <a:latin typeface="Arial" panose="020B0604020202020204" pitchFamily="34" charset="0"/>
                <a:cs typeface="Arial" panose="020B0604020202020204" pitchFamily="34" charset="0"/>
              </a:rPr>
              <a:t>  &lt;circle cx="50" cy="50" r="40" </a:t>
            </a:r>
          </a:p>
          <a:p>
            <a:pPr marL="0" indent="0">
              <a:buNone/>
              <a:defRPr sz="1200">
                <a:latin typeface="Courier New"/>
              </a:defRPr>
            </a:pPr>
            <a:r>
              <a:rPr lang="en-MY" sz="2800" dirty="0">
                <a:latin typeface="Arial" panose="020B0604020202020204" pitchFamily="34" charset="0"/>
                <a:cs typeface="Arial" panose="020B0604020202020204" pitchFamily="34" charset="0"/>
              </a:rPr>
              <a:t>          stroke="blue" </a:t>
            </a:r>
          </a:p>
          <a:p>
            <a:pPr marL="0" indent="0">
              <a:buNone/>
              <a:defRPr sz="1200">
                <a:latin typeface="Courier New"/>
              </a:defRPr>
            </a:pPr>
            <a:r>
              <a:rPr lang="en-MY" sz="2800" dirty="0">
                <a:latin typeface="Arial" panose="020B0604020202020204" pitchFamily="34" charset="0"/>
                <a:cs typeface="Arial" panose="020B0604020202020204" pitchFamily="34" charset="0"/>
              </a:rPr>
              <a:t>          stroke-width="4" </a:t>
            </a:r>
          </a:p>
          <a:p>
            <a:pPr marL="0" indent="0">
              <a:buNone/>
              <a:defRPr sz="1200">
                <a:latin typeface="Courier New"/>
              </a:defRPr>
            </a:pPr>
            <a:r>
              <a:rPr lang="en-MY" sz="2800" dirty="0">
                <a:latin typeface="Arial" panose="020B0604020202020204" pitchFamily="34" charset="0"/>
                <a:cs typeface="Arial" panose="020B0604020202020204" pitchFamily="34" charset="0"/>
              </a:rPr>
              <a:t>          fill="</a:t>
            </a:r>
            <a:r>
              <a:rPr lang="en-MY" sz="2800" dirty="0" err="1">
                <a:latin typeface="Arial" panose="020B0604020202020204" pitchFamily="34" charset="0"/>
                <a:cs typeface="Arial" panose="020B0604020202020204" pitchFamily="34" charset="0"/>
              </a:rPr>
              <a:t>lightblue</a:t>
            </a:r>
            <a:r>
              <a:rPr lang="en-MY" sz="2800" dirty="0">
                <a:latin typeface="Arial" panose="020B0604020202020204" pitchFamily="34" charset="0"/>
                <a:cs typeface="Arial" panose="020B0604020202020204" pitchFamily="34" charset="0"/>
              </a:rPr>
              <a:t>"/&gt;</a:t>
            </a:r>
          </a:p>
          <a:p>
            <a:pPr marL="0" indent="0">
              <a:buNone/>
              <a:defRPr sz="1200">
                <a:latin typeface="Courier New"/>
              </a:defRPr>
            </a:pPr>
            <a:r>
              <a:rPr lang="en-MY" sz="2800" dirty="0"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lang="en-MY" sz="2800" dirty="0" err="1">
                <a:latin typeface="Arial" panose="020B0604020202020204" pitchFamily="34" charset="0"/>
                <a:cs typeface="Arial" panose="020B0604020202020204" pitchFamily="34" charset="0"/>
              </a:rPr>
              <a:t>svg</a:t>
            </a:r>
            <a:r>
              <a:rPr lang="en-MY" sz="28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B7B7F-061D-F6B1-934B-3FB841A72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MY" b="1" dirty="0"/>
              <a:t>CSS Styling SVG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2D101F-6FB6-D12D-B63E-17A221C9B4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1313" y="2489200"/>
            <a:ext cx="4531399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14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58086-3607-B380-3694-0006AEEC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MY" dirty="0"/>
              <a:t>Simple SVG 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3C17-B4B9-BA78-BE65-10C70F7F6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svg</a:t>
            </a:r>
            <a:r>
              <a:rPr lang="en-US" dirty="0"/>
              <a:t> width="120" height="120"&gt;</a:t>
            </a:r>
          </a:p>
          <a:p>
            <a:pPr marL="0" indent="0">
              <a:buNone/>
            </a:pPr>
            <a:r>
              <a:rPr lang="en-US" dirty="0"/>
              <a:t>  &lt;circle cx="60" cy="60" r="40" fill="orange"&gt;</a:t>
            </a:r>
          </a:p>
          <a:p>
            <a:pPr marL="0" indent="0">
              <a:buNone/>
            </a:pPr>
            <a:r>
              <a:rPr lang="en-US" dirty="0"/>
              <a:t>    &lt;animate 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attributeName</a:t>
            </a:r>
            <a:r>
              <a:rPr lang="en-US" dirty="0"/>
              <a:t>="r"</a:t>
            </a:r>
          </a:p>
          <a:p>
            <a:pPr marL="0" indent="0">
              <a:buNone/>
            </a:pPr>
            <a:r>
              <a:rPr lang="en-US" dirty="0"/>
              <a:t>      from="20" to="40"</a:t>
            </a:r>
          </a:p>
          <a:p>
            <a:pPr marL="0" indent="0">
              <a:buNone/>
            </a:pPr>
            <a:r>
              <a:rPr lang="en-US" dirty="0"/>
              <a:t>      dur="1.5s"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repeatCount</a:t>
            </a:r>
            <a:r>
              <a:rPr lang="en-US" dirty="0"/>
              <a:t>="indefinite" /&gt;</a:t>
            </a:r>
          </a:p>
          <a:p>
            <a:pPr marL="0" indent="0">
              <a:buNone/>
            </a:pPr>
            <a:r>
              <a:rPr lang="en-US" dirty="0"/>
              <a:t>  &lt;/circle&gt;</a:t>
            </a:r>
          </a:p>
          <a:p>
            <a:pPr marL="0" indent="0">
              <a:buNone/>
            </a:pPr>
            <a:r>
              <a:rPr lang="en-US" dirty="0"/>
              <a:t>&lt;/</a:t>
            </a:r>
            <a:r>
              <a:rPr lang="en-US" dirty="0" err="1"/>
              <a:t>svg</a:t>
            </a:r>
            <a:r>
              <a:rPr lang="en-US" dirty="0"/>
              <a:t>&gt;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616162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Hover Effect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E2DAA7-C0E1-B728-BFCB-929646F54B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543" y="1686415"/>
            <a:ext cx="5106113" cy="435353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61F34-A7A6-7C93-9F58-D42B1F74C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MY" dirty="0"/>
              <a:t>CSS Keyframe Animation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17B5C4-5C96-4411-E988-25791C63A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507" y="1991257"/>
            <a:ext cx="5163271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727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Click Event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367192-7CC1-2E53-A9CB-5EDA7DE77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3600" y="2901837"/>
            <a:ext cx="7595817" cy="32377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DDDD-1331-2F1B-F3EE-E64469EDD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Image Gallery – Change Image on Click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7B093-0437-7112-88F6-9247FFB2C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01" y="2166257"/>
            <a:ext cx="7121515" cy="449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89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9FDB5-1206-C94D-04D7-D0EB09E99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MY"/>
              <a:t>Form Validation (JavaScript)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268B6-A18B-FADB-58EF-E23B0AB1D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70" y="2120869"/>
            <a:ext cx="6890657" cy="438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188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Multimedia and interactivity greatly enhance user experience</a:t>
            </a:r>
          </a:p>
          <a:p>
            <a:r>
              <a:t>Good optimization improves speed and SEO</a:t>
            </a:r>
          </a:p>
          <a:p>
            <a:r>
              <a:t>SVG supports scalable and modern design patterns</a:t>
            </a:r>
          </a:p>
          <a:p>
            <a:r>
              <a:t>CSS &amp; JavaScript provide powerful tools for interactive UI</a:t>
            </a:r>
          </a:p>
          <a:p>
            <a:r>
              <a:t>Balance creativity with performance and usability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48</TotalTime>
  <Words>726</Words>
  <Application>Microsoft Office PowerPoint</Application>
  <PresentationFormat>On-screen Show (4:3)</PresentationFormat>
  <Paragraphs>103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Century Gothic</vt:lpstr>
      <vt:lpstr>Wingdings 3</vt:lpstr>
      <vt:lpstr>Ion Boardroom</vt:lpstr>
      <vt:lpstr>Media &amp; Interactivity in Web Design</vt:lpstr>
      <vt:lpstr>Media and Interactivity Basics</vt:lpstr>
      <vt:lpstr>Types of Media Used in Web Design</vt:lpstr>
      <vt:lpstr>Image Optimization Techniques – Why It Matters</vt:lpstr>
      <vt:lpstr>Image Optimization Techniques – Methods</vt:lpstr>
      <vt:lpstr>Video &amp; Audio Integration in Web Development</vt:lpstr>
      <vt:lpstr>Best Practices for Video &amp; Audio</vt:lpstr>
      <vt:lpstr>Introduction to SVG Graphics</vt:lpstr>
      <vt:lpstr>SVG Use Cases</vt:lpstr>
      <vt:lpstr>Interactivity with CSS</vt:lpstr>
      <vt:lpstr>Interactivity with JavaScript</vt:lpstr>
      <vt:lpstr>Examples of Interactive Features</vt:lpstr>
      <vt:lpstr>Performance Considerations</vt:lpstr>
      <vt:lpstr>Responsive Image Example</vt:lpstr>
      <vt:lpstr>HTML5 Video Example</vt:lpstr>
      <vt:lpstr>Inline SVG Example</vt:lpstr>
      <vt:lpstr>CSS Styling SVG</vt:lpstr>
      <vt:lpstr>Simple SVG Animation</vt:lpstr>
      <vt:lpstr>CSS Hover Effect</vt:lpstr>
      <vt:lpstr>CSS Keyframe Animation</vt:lpstr>
      <vt:lpstr>JavaScript Click Event</vt:lpstr>
      <vt:lpstr>Image Gallery – Change Image on Click</vt:lpstr>
      <vt:lpstr>Form Validation (JavaScript)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Nor Haniza Mohd Khir</cp:lastModifiedBy>
  <cp:revision>13</cp:revision>
  <dcterms:created xsi:type="dcterms:W3CDTF">2013-01-27T09:14:16Z</dcterms:created>
  <dcterms:modified xsi:type="dcterms:W3CDTF">2025-11-25T05:50:05Z</dcterms:modified>
  <cp:category/>
</cp:coreProperties>
</file>